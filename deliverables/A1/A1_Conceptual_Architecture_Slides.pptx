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中文讲解：大家好，我们是第17组 We can fly，今天介绍 WezTerm 的概念架构。</a:t>
            </a:r>
          </a:p>
          <a:p>
            <a:r>
              <a:t>Source: CISC 322 Assignment 1 Report(1).pdf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中文讲解：我们根据文档恢复概念架构，研究主要职责与交互。具体类、函数、线程与同步实现留到A2验证。</a:t>
            </a:r>
          </a:p>
          <a:p>
            <a:r>
              <a:t>Source: CISC 322 Assignment 1 Report(1).pdf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中文讲解：五个主要功能是终端模拟、多会话管理、远程访问、串口通信和配置。显示能力包括GPU加速、连字、彩色表情、真彩色、超链接、历史搜索与终端图形。</a:t>
            </a:r>
          </a:p>
          <a:p>
            <a:r>
              <a:t>Source: CISC322A1Slides.pdf, p.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中文讲解：面向开发者、系统管理员和DevOps。支持Linux、macOS、Windows、FreeBSD与NetBSD。SSH适合远程工作，串口适合嵌入式设备，Lua支持自定义与自动化。</a:t>
            </a:r>
          </a:p>
          <a:p>
            <a:r>
              <a:t>Source: CISC 322 Assignment 1 Report(1).pdf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中文讲解：系统外部包括用户、操作系统、本地Shell与CLI、远程主机、串口设备与Lua配置文件。图中显示系统服务、终端输入输出、SSH、串口和配置接口。</a:t>
            </a:r>
          </a:p>
          <a:p>
            <a:r>
              <a:t>Source: CISC322A1Slides.pdf, pp. 2–3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中文讲解：2019年末加入标签页、热重载、SSH与远程复用、串口、内联图像、软件渲染回退等能力。Wez Furlong与开源社区负责核心维护、测试、修复、跨平台支持与文档。</a:t>
            </a:r>
          </a:p>
          <a:p>
            <a:r>
              <a:t>Source: CISC 322 Assignment 1 Report(1).pdf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中文讲解：六个子系统围绕多路复用器进行协调。会话状态与图形界面概念上分离，支持本地与远程会话。</a:t>
            </a:r>
          </a:p>
          <a:p>
            <a:r>
              <a:t>Source: CISC 322 Assignment 1 Report(1).pdf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中文讲解：本页对应原A1Slides职责与接口表，列出子系统、主要职责和接口。</a:t>
            </a:r>
          </a:p>
          <a:p>
            <a:r>
              <a:t>Source: CISC322A1Slides.pdf, p.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中文讲解：本页对应原A1Slides职责与接口表，列出子系统、主要职责和接口。</a:t>
            </a:r>
          </a:p>
          <a:p>
            <a:r>
              <a:t>Source: CISC322A1Slides.pdf, p.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中文讲解：启动时处理Lua配置，分发设置，可热重载与执行回调。GUI先检查快捷键，普通输入编码为字节送入活动pane的PTY。输出由终端核心解释、更新cells并由renderer显示。</a:t>
            </a:r>
          </a:p>
          <a:p>
            <a:r>
              <a:t>Source: CISC322A1Slides.pdf, p.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中文讲解：松散分层允许GUI与Lua跨层访问。客户端服务器模式由GUI连接管理会话的mux，通过SSH、Unix socket或TLS通信。隐式调用由事件触发回调，按顺序调用，某个回调可停止后续回调。</a:t>
            </a:r>
          </a:p>
          <a:p>
            <a:r>
              <a:t>Source: CISC322A1Slides.pdf, p.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中文讲解：优点是平台边界、职责分离与灵活性。限制是直接GUI访问与Lua回调增加耦合，mux集中协调，故障可能影响多个功能。</a:t>
            </a:r>
          </a:p>
          <a:p>
            <a:r>
              <a:t>Source: CISC322A1Slides.pdf, pp. 7–8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中文讲解：普通本地输入依次经过用户、GUI、活动pane、PTY和Shell。应用输出通过PTY返回，终端核心更新状态，GUI与渲染器显示。分屏切换标签属于mux操作。远程mux在远端连接进程。</a:t>
            </a:r>
          </a:p>
          <a:p>
            <a:r>
              <a:t>Source: CISC 322 Assignment 1 Report(1).pdf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中文讲解：多个pane同时运行独立程序，用户输入、输出处理、会话管理、网络通信与显示更新可以并发。同步维持状态一致，具体线程和调度机制需A2源代码验证。</a:t>
            </a:r>
          </a:p>
          <a:p>
            <a:r>
              <a:t>Source: CISC 322 Assignment 1 Report(1).pdf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中文讲解：这些NFR是从文档推导出的架构关注点，不是官方正式需求规格。性能、可移植性、可修改性、可测试性、可靠性与安全性。</a:t>
            </a:r>
          </a:p>
          <a:p>
            <a:r>
              <a:t>Source: CISC 322 Assignment 1 Report(1).pdf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中文讲解：用户输入命令，GUI传入pane，经过PTY到Shell。Shell执行后返回输出或错误，终端模拟器更新状态，显示结果，会话继续运行。</a:t>
            </a:r>
          </a:p>
          <a:p>
            <a:r>
              <a:t>Source: CISC 322 Assignment 1 Report(1).pdf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中文讲解：沿原图讲解用户、GUI、pane、PTY、Shell与renderer的交互。有效命令与无效命令在Shell分支后通过相同路径返回。</a:t>
            </a:r>
          </a:p>
          <a:p>
            <a:r>
              <a:t>Source: CISC 322 Assignment 1 Report(1).pdf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中文讲解：该用例关注内部处理。pane传输入至mux，mux写PTY，程序输出经PTY返回，parser解释字节，screen model更新，mux通知renderer。PTY关闭后不再接收输出。</a:t>
            </a:r>
          </a:p>
          <a:p>
            <a:r>
              <a:t>Source: CISC 322 Assignment 1 Report(1).pdf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中文讲解：使用上传的Kernel Processing原图，讲解13步流程。parser执行控制序列，screen model保存cells、cursor、attributes与scrollback，renderer显示内容。</a:t>
            </a:r>
          </a:p>
          <a:p>
            <a:r>
              <a:t>Source: image(20261005-190012).png; CISC 322 Assignment 1 Report(1).pdf, UC-02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中文讲解：六个子系统分离会话、输入、模拟、渲染、配置与连接职责。mux协调本地远程工作。概念恢复需要归纳职责并统一术语，避免把不确定实现当成事实。A2将比较源代码实现。</a:t>
            </a:r>
          </a:p>
          <a:p>
            <a:r>
              <a:t>Source: CISC 322 Assignment 1 Report(1).pdf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References reproduced from the supplied group report. Also: https://wezterm.org/install/source.html; https://wezterm.org/config/lua/pane/; https://wezterm.org/what-is-a-terminal.html; https://github.com/wez; https://mynixos.com/nixpkgs/package/wezterm; Angela (2026, May 14), https://wezterm.com/2026/05/14/what-is-wezterm-used-for/. Official documentation retrieved October 3–4, 2026 as stated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/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/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/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/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/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dirty="0" err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WezTerm</a:t>
            </a:r>
            <a:endParaRPr sz="3150" b="1" dirty="0">
              <a:solidFill>
                <a:srgbClr val="172435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476375"/>
            <a:ext cx="108585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Conceptual Architecture Overview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59080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 dirty="0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CISC 322 • Assignment 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34099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Group 17: We can fly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4238625"/>
            <a:ext cx="108585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endParaRPr sz="2175" b="0" dirty="0">
              <a:solidFill>
                <a:srgbClr val="172435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5268396"/>
            <a:ext cx="8572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October 6, 2026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1581A8-0B1C-C529-518D-BA67FD4F7F19}"/>
              </a:ext>
            </a:extLst>
          </p:cNvPr>
          <p:cNvSpPr txBox="1"/>
          <p:nvPr/>
        </p:nvSpPr>
        <p:spPr>
          <a:xfrm>
            <a:off x="552450" y="4458771"/>
            <a:ext cx="3179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https://youtu.be/BeAer5_p0Yg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DF43A-0BA4-E1A8-43A3-D137DA53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44550"/>
            <a:ext cx="10820400" cy="615950"/>
          </a:xfrm>
        </p:spPr>
        <p:txBody>
          <a:bodyPr>
            <a:normAutofit/>
          </a:bodyPr>
          <a:lstStyle/>
          <a:p>
            <a:r>
              <a:rPr lang="en-US" altLang="zh-CN" sz="3150" dirty="0">
                <a:latin typeface="Bitstream Charter"/>
              </a:rPr>
              <a:t>Group Members</a:t>
            </a:r>
            <a:endParaRPr lang="zh-CN" altLang="en-US" sz="3150" dirty="0">
              <a:latin typeface="Bitstream Charter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82E9A6-8BEA-197A-0D51-0835AD593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3848100"/>
          </a:xfrm>
        </p:spPr>
        <p:txBody>
          <a:bodyPr/>
          <a:lstStyle/>
          <a:p>
            <a:r>
              <a:rPr lang="en-US" altLang="zh-CN" sz="2180" dirty="0" err="1">
                <a:latin typeface="Bitstream Charter"/>
              </a:rPr>
              <a:t>Lingwei</a:t>
            </a:r>
            <a:r>
              <a:rPr lang="en-US" altLang="zh-CN" sz="2180" dirty="0">
                <a:latin typeface="Bitstream Charter"/>
              </a:rPr>
              <a:t> Huang: Control &amp; Data Flow, Concurrency, Non-Functional Requirements </a:t>
            </a:r>
          </a:p>
          <a:p>
            <a:r>
              <a:rPr lang="en-US" altLang="zh-CN" sz="2180" dirty="0">
                <a:latin typeface="Bitstream Charter"/>
              </a:rPr>
              <a:t>Kylin Jin: User Case &amp; Sequence Diagram 1 / Presenter 		 </a:t>
            </a:r>
          </a:p>
          <a:p>
            <a:r>
              <a:rPr lang="en-US" altLang="zh-CN" sz="2180" dirty="0">
                <a:latin typeface="Bitstream Charter"/>
              </a:rPr>
              <a:t>Bei Lin: User Case &amp; Sequence Diagram 2 / Presenter 		   </a:t>
            </a:r>
          </a:p>
          <a:p>
            <a:r>
              <a:rPr lang="en-US" altLang="zh-CN" sz="2180" dirty="0">
                <a:latin typeface="Bitstream Charter"/>
              </a:rPr>
              <a:t>Krystal Sun: Conceptual Architecture		</a:t>
            </a:r>
          </a:p>
          <a:p>
            <a:r>
              <a:rPr lang="en-US" altLang="zh-CN" sz="2180" dirty="0">
                <a:latin typeface="Bitstream Charter"/>
              </a:rPr>
              <a:t>Yun Zhang:  Abstract,</a:t>
            </a:r>
            <a:r>
              <a:rPr lang="en-US" altLang="zh-CN" sz="2180" b="1" dirty="0">
                <a:latin typeface="Bitstream Charter"/>
              </a:rPr>
              <a:t> </a:t>
            </a:r>
            <a:r>
              <a:rPr lang="en-US" altLang="zh-CN" sz="2180" dirty="0">
                <a:latin typeface="Bitstream Charter"/>
              </a:rPr>
              <a:t>Introduction, Data Dictionary and Naming Conventions, Conclusion and Lesson Learnt, AI Collaboration Report / Group Leader	</a:t>
            </a:r>
          </a:p>
          <a:p>
            <a:r>
              <a:rPr lang="en-US" altLang="zh-CN" sz="2180" dirty="0" err="1">
                <a:latin typeface="Bitstream Charter"/>
              </a:rPr>
              <a:t>Hongtian</a:t>
            </a:r>
            <a:r>
              <a:rPr lang="en-US" altLang="zh-CN" sz="2180" dirty="0">
                <a:latin typeface="Bitstream Charter"/>
              </a:rPr>
              <a:t> Zhao: </a:t>
            </a:r>
            <a:r>
              <a:rPr lang="en-US" altLang="zh-CN" sz="2180" dirty="0" err="1">
                <a:latin typeface="Bitstream Charter"/>
              </a:rPr>
              <a:t>WezTerm</a:t>
            </a:r>
            <a:r>
              <a:rPr lang="en-US" altLang="zh-CN" sz="2180" dirty="0">
                <a:latin typeface="Bitstream Charter"/>
              </a:rPr>
              <a:t> Overview  </a:t>
            </a:r>
            <a:r>
              <a:rPr lang="en-US" altLang="zh-CN" dirty="0"/>
              <a:t>	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6248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Project Scope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476375"/>
            <a:ext cx="10763250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Cross-platform terminal emulator and multiplexer, primarily written in Rust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552700"/>
            <a:ext cx="10763250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Documentation-based recovery of major responsibilities and interactions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3629025"/>
            <a:ext cx="10763250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Six conceptual subsystems, with the multiplexer as the coordination point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4705350"/>
            <a:ext cx="10763250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A foundation for comparing the conceptual model with source code in A2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System Functionality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5049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Main functions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171700"/>
            <a:ext cx="51435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Terminal Emulation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2867025"/>
            <a:ext cx="51435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Terminal Multiplexing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3562350"/>
            <a:ext cx="51435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Remote Access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4257675"/>
            <a:ext cx="51435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Serial Communication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4953000"/>
            <a:ext cx="51435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Configuration &amp; Customization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572250" y="1504950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Key capabilities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572250" y="2171700"/>
            <a:ext cx="4953000" cy="3524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GPU-accelerated rendering</a:t>
            </a:r>
          </a:p>
          <a:p>
            <a:endParaRPr sz="2175" dirty="0"/>
          </a:p>
          <a:p>
            <a:pPr>
              <a:def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Ligatures and color emoji</a:t>
            </a:r>
          </a:p>
          <a:p>
            <a:pPr>
              <a:def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True color and hyperlinks</a:t>
            </a:r>
          </a:p>
          <a:p>
            <a:pPr>
              <a:def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Searchable </a:t>
            </a:r>
            <a:r>
              <a:rPr sz="2175" b="0" dirty="0" err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scrollback</a:t>
            </a:r>
            <a:endParaRPr sz="2175" b="0" dirty="0">
              <a:solidFill>
                <a:srgbClr val="172435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1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Terminal graphics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Target Users and Platforms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Users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Developers</a:t>
            </a:r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System administrators</a:t>
            </a:r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DevOps engineers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30530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Platforms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0530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Linux and macOS</a:t>
            </a:r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Windows</a:t>
            </a:r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FreeBSD and NetBSD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2005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Workflows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2005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Local command-line work</a:t>
            </a:r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SSH to remote systems</a:t>
            </a:r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Serial device communication</a:t>
            </a:r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Lua customization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System Boundary and External Interfaces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740437"/>
            <a:ext cx="7239000" cy="3853375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590550" y="1562100"/>
            <a:ext cx="35242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User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2276475"/>
            <a:ext cx="35242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Operating system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2990850"/>
            <a:ext cx="35242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Local shells and CLI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3705225"/>
            <a:ext cx="35242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Remote hosts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4419600"/>
            <a:ext cx="35242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Serial devices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5133975"/>
            <a:ext cx="35242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Lua configuration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System Evolution and Developer Responsibilities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571625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Evolution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257425"/>
            <a:ext cx="5048250" cy="3333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Late-2019 additions included tabs, hot reloading, SSH and remote multiplexing, serial support, inline images, and software-rendering fallback.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Later work refined configuration, rendering, SSH behavior, and platform integration.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0" y="1571625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Development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0" y="2257425"/>
            <a:ext cx="5048250" cy="3333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Created by Wez Furlong with contributions from the open-source community.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Responsibilities include core functionality, testing and bug fixes, cross-platform support, and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Conceptual Architecture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31" y="1571625"/>
            <a:ext cx="10908137" cy="4476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Subsystem Responsibilities and Interfaces 1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graphicFrame>
        <p:nvGraphicFramePr>
          <p:cNvPr id="6" name="表格 5"/>
          <p:cNvGraphicFramePr/>
          <p:nvPr/>
        </p:nvGraphicFramePr>
        <p:xfrm>
          <a:off x="590550" y="1571625"/>
          <a:ext cx="11001375" cy="4095752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3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Subsystem</a:t>
                      </a:r>
                    </a:p>
                  </a:txBody>
                  <a:tcPr>
                    <a:solidFill>
                      <a:srgbClr val="6042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Responsibility</a:t>
                      </a:r>
                    </a:p>
                  </a:txBody>
                  <a:tcPr>
                    <a:solidFill>
                      <a:srgbClr val="6042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Main interfaces</a:t>
                      </a:r>
                    </a:p>
                  </a:txBody>
                  <a:tcPr>
                    <a:solidFill>
                      <a:srgbClr val="6042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Configuration and Event Automation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Loads Lua settings and runs registered callbacks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Configuration table, event API, reload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GUI Input and Window Integration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Represents native windows and user interaction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Keyboard and mouse events, GUI objects, mux actions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Multiplexer and Session Management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Maintains domains, workspaces, windows, tabs, and panes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Mux API, domain connections, pane and window IDs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Subsystem Responsibilities and Interfaces 2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graphicFrame>
        <p:nvGraphicFramePr>
          <p:cNvPr id="6" name="表格 5"/>
          <p:cNvGraphicFramePr/>
          <p:nvPr/>
        </p:nvGraphicFramePr>
        <p:xfrm>
          <a:off x="590550" y="1571625"/>
          <a:ext cx="11001375" cy="4095752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3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Subsystem</a:t>
                      </a:r>
                    </a:p>
                  </a:txBody>
                  <a:tcPr>
                    <a:solidFill>
                      <a:srgbClr val="6042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Responsibility</a:t>
                      </a:r>
                    </a:p>
                  </a:txBody>
                  <a:tcPr>
                    <a:solidFill>
                      <a:srgbClr val="6042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Main interfaces</a:t>
                      </a:r>
                    </a:p>
                  </a:txBody>
                  <a:tcPr>
                    <a:solidFill>
                      <a:srgbClr val="6042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Terminal Emulation Core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Parses UTF-8 and control sequences and updates terminal state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Byte stream, terminal cells, pane I/O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Rendering and Presentation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Converts terminal state into visible frames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Display state, OpenGL, WebGPU, software renderer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Process and Connection Backends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Connects panes to local or remote endpoints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4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PTY, SSH, serial ports, Unix sockets, TLS</a:t>
                      </a:r>
                    </a:p>
                  </a:txBody>
                  <a:tcPr>
                    <a:solidFill>
                      <a:srgbClr val="F5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Component Interaction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Configuration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Evaluates the Lua file and distributes settings.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Can reload configuration or run event handlers.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30530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User input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0530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The GUI checks key assignments.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Configured actions use the mux. Other input becomes bytes sent to the active pane’s PTY.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2005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Program output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2005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The terminal core reads the endpoint stream and updates cells.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The renderer draws the next frame.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Architectural Styles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Loosely layered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User actions pass through the GUI and mux.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Output passes through the terminal core and renderer.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Direct GUI and Lua access makes the layers less strict.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30530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Client-server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0530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The GUI acts as the client. The multiplexer manages sessions.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Communication can use SSH, Unix sockets, or TLS.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2005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Implicit invocation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2005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The Lua event API calls registered callbacks in order.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A callback can stop the callbacks that follow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Architecture Evaluation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571625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Strengths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257425"/>
            <a:ext cx="5143500" cy="3857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Platform boundaries</a:t>
            </a:r>
          </a:p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GUI, rendering, PTY, and connection details stay near the system boundary.</a:t>
            </a:r>
          </a:p>
          <a:p>
            <a:endParaRPr sz="1875"/>
          </a:p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Separation</a:t>
            </a:r>
          </a:p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The terminal model and mux remain separate from native window operations.</a:t>
            </a:r>
          </a:p>
          <a:p>
            <a:endParaRPr sz="1875"/>
          </a:p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Flexibility</a:t>
            </a:r>
          </a:p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One model supports different platforms and remote sessions.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0" y="1571625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Limitations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0" y="2257425"/>
            <a:ext cx="5048250" cy="3857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Additional coupling</a:t>
            </a:r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Direct GUI access and Lua callbacks weaken layered boundaries.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Central coordination</a:t>
            </a:r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The multiplexer keeps pane state consistent across several kinds of input. A problem here may affect several features.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Control Flow and Data Flow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5240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Local input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09550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User → GUI Input Handling → Active Pane → PTY → Shell / Application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321945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Application output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3790950"/>
            <a:ext cx="10763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Application → PTY → Pane / Terminal Emulation → GUI / Renderer → Screen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5153025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Pane splits and tab switching use mux actions. Remote multiplexing connects the GUI to a remote mux, which manages process I/O at the remote endpoint.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Concurrency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Concurrent activities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Independent programs in multiple panes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User input, terminal output, session management, network communication, and display updates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30530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Communication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0530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Local sessions use PTYs.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Remote multiplexing can use Unix-domain sockets, SSH, or TLS.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Synchronization keeps states consistent.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2005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Architectural impact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2005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Separate terminal and process state for each pane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Responsiveness, latency, and failure coordination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Exact threading and scheduling require source analysis.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dirty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Non-Functional Requirements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476375"/>
            <a:ext cx="108585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Performance: responsive input, efficient output processing, GPU or software rendering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371725"/>
            <a:ext cx="108585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Portability: common terminal model with platform-specific PTY / ConPTY facilities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3267075"/>
            <a:ext cx="108585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Modifiability: Lua configuration, custom key bindings, and hot reloading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4162425"/>
            <a:ext cx="108585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Testability: separate responsibilities create unit and integration testing boundaries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5057775"/>
            <a:ext cx="108585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Reliability and security: persistent remote sessions depend on mode and configuration, with SSH or TLS protecting remote communication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6219825"/>
            <a:ext cx="10572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Architectural concerns inferred from documentation, rather than a formal requirements specification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UC-01: Execute a Command in a Local Terminal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Actor and preconditions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Actor: user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WezTerm is running with an active local pane, connected PTY, and shell.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Trigger: enter a command.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30530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Main flow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0530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GUI forwards input to the pane.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PTY delivers it to the shell.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Output returns, terminal state updates, and the GUI displays the result.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2005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Alternative and outcome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2005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An invalid command produces a shell error message.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Output or error follows the same return path.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The session remains active.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UC-01: Original Sequence Diagram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290" y="1209675"/>
            <a:ext cx="8777420" cy="50958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UC-02: Terminal Input and Output Processing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Trigger and input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An active pane receives I/O.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Pane forwards input to the mux.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Mux writes it to the PTY and shell or program.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30530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Output processing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0530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Program output returns through the PTY.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Parser interprets bytes and terminal actions.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Screen model updates terminal state.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20050" y="1571625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42AC"/>
                </a:solidFill>
                <a:latin typeface="Bitstream Charter"/>
                <a:ea typeface="Bitstream Charter"/>
                <a:cs typeface="Bitstream Charter"/>
              </a:rPr>
              <a:t>Presentation and alternatives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20050" y="2266950"/>
            <a:ext cx="33337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Mux notifies the renderer.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Errors and escape sequences use the same path.</a:t>
            </a:r>
          </a:p>
          <a:p>
            <a:endParaRPr sz="2025"/>
          </a:p>
          <a:p>
            <a:pPr>
              <a:def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A closed PTY stops further process output.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UC-02: Original Sequence Diagram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19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50" y="1052830"/>
            <a:ext cx="9766935" cy="51168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Conclusion and Lessons Learned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20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524000"/>
            <a:ext cx="1076325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Six subsystems separate session management, interaction, terminal processing, rendering, configuration, and connections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428875"/>
            <a:ext cx="1076325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The multiplexer coordinates local and remote sessions independently of presentation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3333750"/>
            <a:ext cx="1076325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Architecture recovery groups documented features into meaningful responsibilities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4238625"/>
            <a:ext cx="1076325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Shared terminology and subsystem boundaries help integrate team contributions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5143500"/>
            <a:ext cx="1076325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A2 will verify implementation details and compare concrete architecture with this model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Grp="1"/>
          </p:cNvSpPr>
          <p:nvPr/>
        </p:nvSpPr>
        <p:spPr>
          <a:xfrm>
            <a:off x="552450" y="361950"/>
            <a:ext cx="11087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References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484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777777"/>
                </a:solidFill>
                <a:latin typeface="Bitstream Charter"/>
                <a:ea typeface="Bitstream Charter"/>
                <a:cs typeface="Bitstream Charter"/>
              </a:rPr>
              <a:t>21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381125"/>
            <a:ext cx="108585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WezTerm Features and Configuration</a:t>
            </a:r>
          </a:p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wezterm.org/features.html  •  wezterm.org/config/files.html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562225"/>
            <a:ext cx="108585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Multiplexing, SSH, and Serial Ports</a:t>
            </a:r>
          </a:p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wezterm.org/multiplexing.html  •  wezterm.org/ssh.html</a:t>
            </a:r>
          </a:p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wezterm.org/config/lua/config/serial_ports.html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3743325"/>
            <a:ext cx="108585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Mux API and Lua Events</a:t>
            </a:r>
          </a:p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wezterm.org/config/lua/wezterm.mux/index.html</a:t>
            </a:r>
          </a:p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wezterm.org/config/lua/wezterm/on.html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4924425"/>
            <a:ext cx="108585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Rendering, Keyboard Encoding, and Change Log</a:t>
            </a:r>
          </a:p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wezterm.org/config/lua/config/front_end.html</a:t>
            </a:r>
          </a:p>
          <a:p>
            <a:pPr>
              <a:def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435"/>
                </a:solidFill>
                <a:latin typeface="Bitstream Charter"/>
                <a:ea typeface="Bitstream Charter"/>
                <a:cs typeface="Bitstream Charter"/>
              </a:rPr>
              <a:t>wezterm.org/config/key-encoding.html  •  wezterm.org/changelog.html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2011</Words>
  <Application>Microsoft Office PowerPoint</Application>
  <PresentationFormat>宽屏</PresentationFormat>
  <Paragraphs>283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Bitstream Charter</vt:lpstr>
      <vt:lpstr>Aptos</vt:lpstr>
      <vt:lpstr>ChatGPT</vt:lpstr>
      <vt:lpstr>PowerPoint 演示文稿</vt:lpstr>
      <vt:lpstr>Group Members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Yun Zhang</cp:lastModifiedBy>
  <cp:revision>5</cp:revision>
  <dcterms:created xsi:type="dcterms:W3CDTF">2026-10-07T01:11:30Z</dcterms:created>
  <dcterms:modified xsi:type="dcterms:W3CDTF">2026-10-09T03:10:52Z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F9E30A940E3849B58E3F1968CF3FFFBE_12</vt:lpwstr>
  </property>
  <property fmtid="{D5CDD505-2E9C-101B-9397-08002B2CF9AE}" pid="3" name="KSOProductBuildVer">
    <vt:lpwstr>2052-12.1.0.28505</vt:lpwstr>
  </property>
</Properties>
</file>